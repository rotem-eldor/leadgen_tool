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C3A3F"/>
                </a:solidFill>
                <a:latin typeface="Calibri"/>
              </a:rPr>
              <a:t>Game Lead 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97A7"/>
                </a:solidFill>
                <a:latin typeface="Calibri"/>
              </a:rPr>
              <a:t>Automated M&amp;A Intelligence for Mobile Games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37560"/>
            <a:ext cx="4114800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CrazyLabs  ·  Business Development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01 ·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What is this tool?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743200" cy="32918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329184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3A3F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A3F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3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3A3F"/>
                </a:solidFill>
                <a:latin typeface="Calibri"/>
              </a:rPr>
              <a:t>Identify mobile games worth acquiring</a:t>
            </a:r>
            <a:r>
              <a:rPr lang="en-US" sz="1200" b="0" i="0" dirty="0">
                <a:solidFill>
                  <a:srgbClr val="1C3A3F"/>
                </a:solidFill>
                <a:latin typeface="Calibri"/>
              </a:rPr>
              <a:t>,</a:t>
            </a:r>
            <a:r>
              <a:rPr sz="1200" b="0" i="0" dirty="0">
                <a:solidFill>
                  <a:srgbClr val="1C3A3F"/>
                </a:solidFill>
                <a:latin typeface="Calibri"/>
              </a:rPr>
              <a:t> automatically.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743200" cy="32918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54864" cy="329184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3A3F"/>
                </a:solidFill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A3F"/>
                </a:solidFill>
                <a:latin typeface="Calibri"/>
              </a:rPr>
              <a:t>Data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97480"/>
            <a:ext cx="2377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3A3F"/>
                </a:solidFill>
                <a:latin typeface="Calibri"/>
              </a:rPr>
              <a:t>Sensor Tower top 10,000 games by downloads</a:t>
            </a:r>
            <a:r>
              <a:rPr lang="en-US" sz="1200" b="0" i="0" dirty="0">
                <a:solidFill>
                  <a:srgbClr val="1C3A3F"/>
                </a:solidFill>
                <a:latin typeface="Calibri"/>
              </a:rPr>
              <a:t>/revenue (</a:t>
            </a:r>
            <a:r>
              <a:rPr lang="en-US" sz="1200" b="0" i="0" dirty="0" err="1">
                <a:solidFill>
                  <a:srgbClr val="1C3A3F"/>
                </a:solidFill>
                <a:latin typeface="Calibri"/>
              </a:rPr>
              <a:t>absolut</a:t>
            </a:r>
            <a:r>
              <a:rPr lang="en-US" sz="1200" b="0" i="0" dirty="0">
                <a:solidFill>
                  <a:srgbClr val="1C3A3F"/>
                </a:solidFill>
                <a:latin typeface="Calibri"/>
              </a:rPr>
              <a:t> or growth)</a:t>
            </a:r>
          </a:p>
          <a:p>
            <a:pPr algn="l"/>
            <a:endParaRPr lang="en-US" sz="1200" dirty="0">
              <a:solidFill>
                <a:srgbClr val="1C3A3F"/>
              </a:solidFill>
              <a:latin typeface="Calibri"/>
            </a:endParaRPr>
          </a:p>
          <a:p>
            <a:pPr algn="l"/>
            <a:r>
              <a:rPr sz="1200" b="0" i="0" dirty="0">
                <a:solidFill>
                  <a:srgbClr val="1C3A3F"/>
                </a:solidFill>
                <a:latin typeface="Calibri"/>
              </a:rPr>
              <a:t>Google Play + App Store, worldwide.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743200" cy="32918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54864" cy="329184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3A3F"/>
                </a:solidFill>
                <a:latin typeface="Calibri"/>
              </a:rP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A3F"/>
                </a:solidFill>
                <a:latin typeface="Calibri"/>
              </a:rPr>
              <a:t>How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2377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3A3F"/>
                </a:solidFill>
                <a:latin typeface="Calibri"/>
              </a:rPr>
              <a:t>Every game is scored using a profit model</a:t>
            </a:r>
            <a:r>
              <a:rPr lang="en-US" sz="1200" b="0" i="0" dirty="0">
                <a:solidFill>
                  <a:srgbClr val="1C3A3F"/>
                </a:solidFill>
                <a:latin typeface="Calibri"/>
              </a:rPr>
              <a:t> calculated with real data of over 30 games</a:t>
            </a:r>
            <a:endParaRPr sz="1200" b="0" i="0" dirty="0">
              <a:solidFill>
                <a:srgbClr val="1C3A3F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235440" y="1463040"/>
            <a:ext cx="2743200" cy="32918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1463040"/>
            <a:ext cx="54864" cy="329184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C3A3F"/>
                </a:solidFill>
                <a:latin typeface="Calibri"/>
              </a:rPr>
              <a:t>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3A3F"/>
                </a:solidFill>
                <a:latin typeface="Calibri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697480"/>
            <a:ext cx="2377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3A3F"/>
                </a:solidFill>
                <a:latin typeface="Calibri"/>
              </a:rPr>
              <a:t>A live HTML dashboard: 4 tabs, sortable columns, notes, review tracking</a:t>
            </a:r>
            <a:r>
              <a:rPr lang="en-US" sz="1200" b="0" i="0" dirty="0">
                <a:solidFill>
                  <a:srgbClr val="1C3A3F"/>
                </a:solidFill>
                <a:latin typeface="Calibri"/>
              </a:rPr>
              <a:t>.</a:t>
            </a:r>
          </a:p>
          <a:p>
            <a:pPr algn="l"/>
            <a:r>
              <a:rPr lang="en-US" sz="1200" b="0" i="0" dirty="0">
                <a:solidFill>
                  <a:srgbClr val="1C3A3F"/>
                </a:solidFill>
                <a:latin typeface="Calibri"/>
              </a:rPr>
              <a:t>R</a:t>
            </a:r>
            <a:r>
              <a:rPr sz="1200" b="0" i="0" dirty="0">
                <a:solidFill>
                  <a:srgbClr val="1C3A3F"/>
                </a:solidFill>
                <a:latin typeface="Calibri"/>
              </a:rPr>
              <a:t>ebuilt every run.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02 · PROFIT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How we estimate profit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86868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3A3F"/>
                </a:solidFill>
                <a:latin typeface="Calibri"/>
              </a:rPr>
              <a:t>Revenue Per Download (RPD)  =  90-day Revenue ÷ 90-day Downloads  ÷ 3  =  monthly estimate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RPD determines which model applies: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3566160" cy="3749039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4864" cy="3749039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3A3F"/>
                </a:solidFill>
                <a:latin typeface="Calibri"/>
              </a:rPr>
              <a:t>IAA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63240"/>
            <a:ext cx="32004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62828"/>
                </a:solidFill>
                <a:latin typeface="Calibri"/>
              </a:rPr>
              <a:t>RPD &lt; $0.10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Calibri"/>
              </a:rPr>
              <a:t>Pure ad-moneti</a:t>
            </a:r>
            <a:r>
              <a:rPr lang="en-US" sz="1400" b="0" i="0" dirty="0">
                <a:latin typeface="Calibri"/>
              </a:rPr>
              <a:t>z</a:t>
            </a:r>
            <a:r>
              <a:rPr sz="1400" b="0" i="0" dirty="0">
                <a:latin typeface="Calibri"/>
              </a:rPr>
              <a:t>ed games. Downloads drive revenue.
</a:t>
            </a:r>
            <a:r>
              <a:rPr lang="en-US" sz="1400" b="0" i="0" dirty="0">
                <a:latin typeface="Calibri"/>
              </a:rPr>
              <a:t>High</a:t>
            </a:r>
            <a:r>
              <a:rPr sz="1400" b="0" i="0" dirty="0">
                <a:latin typeface="Calibri"/>
              </a:rPr>
              <a:t> median error — always verify manually.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468880"/>
            <a:ext cx="3566160" cy="3749039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4528" y="2468880"/>
            <a:ext cx="54864" cy="3749039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07408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3A3F"/>
                </a:solidFill>
                <a:latin typeface="Calibri"/>
              </a:rPr>
              <a:t>Blend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3063240"/>
            <a:ext cx="3200400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07408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B4C8"/>
                </a:solidFill>
                <a:latin typeface="Calibri"/>
              </a:rPr>
              <a:t>RPD ≥ $0.10  &amp;  Rev ≤ $1M/</a:t>
            </a:r>
            <a:r>
              <a:rPr sz="1100" b="1" i="0" dirty="0" err="1">
                <a:solidFill>
                  <a:srgbClr val="00B4C8"/>
                </a:solidFill>
                <a:latin typeface="Calibri"/>
              </a:rPr>
              <a:t>mo</a:t>
            </a:r>
            <a:endParaRPr sz="1100" b="1" i="0" dirty="0">
              <a:solidFill>
                <a:srgbClr val="00B4C8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07408" y="4114800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Calibri"/>
              </a:rPr>
              <a:t>Hybrid games with both ads and in-app purchases.
</a:t>
            </a:r>
            <a:r>
              <a:rPr lang="en-US" sz="1400" b="0" i="0" dirty="0">
                <a:latin typeface="Calibri"/>
              </a:rPr>
              <a:t>Medium</a:t>
            </a:r>
            <a:r>
              <a:rPr sz="1400" b="0" i="0" dirty="0">
                <a:latin typeface="Calibri"/>
              </a:rPr>
              <a:t> median error — reasonable for screening.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468880"/>
            <a:ext cx="3566160" cy="3749039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1856" y="2468880"/>
            <a:ext cx="54864" cy="374903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74736" y="2606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3A3F"/>
                </a:solidFill>
                <a:latin typeface="Calibri"/>
              </a:rPr>
              <a:t>IAP 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3063240"/>
            <a:ext cx="32004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74736" y="3154680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2E7D32"/>
                </a:solidFill>
                <a:latin typeface="Calibri"/>
              </a:rPr>
              <a:t>RPD </a:t>
            </a:r>
            <a:r>
              <a:rPr lang="en-IL" sz="1100" b="1" dirty="0">
                <a:solidFill>
                  <a:srgbClr val="2E7D32"/>
                </a:solidFill>
                <a:latin typeface="Calibri"/>
              </a:rPr>
              <a:t>≥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$3 &amp;  </a:t>
            </a:r>
            <a:r>
              <a:rPr sz="1100" b="1" dirty="0">
                <a:solidFill>
                  <a:srgbClr val="2E7D32"/>
                </a:solidFill>
                <a:latin typeface="Calibri"/>
              </a:rPr>
              <a:t>Revenue </a:t>
            </a:r>
            <a:r>
              <a:rPr sz="1100" b="1" i="0" dirty="0">
                <a:solidFill>
                  <a:srgbClr val="2E7D32"/>
                </a:solidFill>
                <a:latin typeface="Calibri"/>
              </a:rPr>
              <a:t>&gt; $1M/</a:t>
            </a:r>
            <a:r>
              <a:rPr sz="1100" b="1" i="0" dirty="0" err="1">
                <a:solidFill>
                  <a:srgbClr val="2E7D32"/>
                </a:solidFill>
                <a:latin typeface="Calibri"/>
              </a:rPr>
              <a:t>mo</a:t>
            </a:r>
            <a:endParaRPr sz="11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74736" y="4114800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latin typeface="Calibri"/>
              </a:rPr>
              <a:t>Strong IAP titles. Revenue is the dominant signal.
</a:t>
            </a:r>
            <a:r>
              <a:rPr lang="en-US" sz="1400" b="0" i="0" dirty="0">
                <a:latin typeface="Calibri"/>
              </a:rPr>
              <a:t>Medium</a:t>
            </a:r>
            <a:r>
              <a:rPr lang="en-IL" sz="1400" b="0" i="0" dirty="0">
                <a:latin typeface="Calibri"/>
              </a:rPr>
              <a:t> </a:t>
            </a:r>
            <a:r>
              <a:rPr sz="1400" b="0" i="0" dirty="0">
                <a:latin typeface="Calibri"/>
              </a:rPr>
              <a:t>median error — most reliable model.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03 · CALIBRATION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How we validated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938528" y="1417320"/>
            <a:ext cx="2560320" cy="118872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75688" y="1508760"/>
            <a:ext cx="228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0097A7"/>
                </a:solidFill>
                <a:latin typeface="Calibri"/>
              </a:rPr>
              <a:t>30</a:t>
            </a:r>
            <a:r>
              <a:rPr lang="en-US" sz="3600" b="1" i="0" dirty="0">
                <a:solidFill>
                  <a:srgbClr val="0097A7"/>
                </a:solidFill>
                <a:latin typeface="Calibri"/>
              </a:rPr>
              <a:t>+</a:t>
            </a:r>
            <a:endParaRPr sz="3600" b="1" i="0" dirty="0">
              <a:solidFill>
                <a:srgbClr val="0097A7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75688" y="20848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anchor games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417320"/>
            <a:ext cx="2560320" cy="118872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0328" y="15087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97A7"/>
                </a:solidFill>
                <a:latin typeface="Calibri"/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20848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full-year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7808" y="1417320"/>
            <a:ext cx="2560320" cy="118872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44968" y="15087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97A7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20848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64748B"/>
                </a:solidFill>
                <a:latin typeface="Calibri"/>
              </a:rPr>
              <a:t>model types tested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34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Sample anchor games (known 2025 monthly profit vs. model prediction):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10149840" cy="384048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310127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A3F"/>
                </a:solidFill>
                <a:latin typeface="Calibri"/>
              </a:rPr>
              <a:t>Game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3310127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C3A3F"/>
                </a:solidFill>
                <a:latin typeface="Calibri"/>
              </a:rPr>
              <a:t>Model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79" y="3310127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A3F"/>
                </a:solidFill>
                <a:latin typeface="Calibri"/>
              </a:rPr>
              <a:t>Actual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310127"/>
            <a:ext cx="1737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A3F"/>
                </a:solidFill>
                <a:latin typeface="Calibri"/>
              </a:rPr>
              <a:t>Predicted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10127"/>
            <a:ext cx="1463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A3F"/>
                </a:solidFill>
                <a:latin typeface="Calibri"/>
              </a:rPr>
              <a:t>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30168"/>
            <a:ext cx="10149840" cy="384048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694176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Zombie Waves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79" y="3694176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3A3F"/>
                </a:solidFill>
                <a:latin typeface="Calibri"/>
              </a:rPr>
              <a:t>IAP 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694176"/>
            <a:ext cx="1463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62828"/>
                </a:solidFill>
                <a:latin typeface="Calibri"/>
              </a:rPr>
              <a:t>+143%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14215"/>
            <a:ext cx="10149840" cy="384048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078224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SuitU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79" y="4078224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IAP 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078224"/>
            <a:ext cx="1463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C00"/>
                </a:solidFill>
                <a:latin typeface="Calibri"/>
              </a:rPr>
              <a:t>-32%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98264"/>
            <a:ext cx="10149840" cy="384048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462272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Lamar – Idle Vlogger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79" y="4462272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IAA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462272"/>
            <a:ext cx="1463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C00"/>
                </a:solidFill>
                <a:latin typeface="Calibri"/>
              </a:rPr>
              <a:t>-47%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782312"/>
            <a:ext cx="10149840" cy="384048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4846320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Coffee Mania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79" y="4846320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Blend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846320"/>
            <a:ext cx="1463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-8% 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166359"/>
            <a:ext cx="10149840" cy="384048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5230368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Heroes vs Hordes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79" y="5230368"/>
            <a:ext cx="1828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Blend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230368"/>
            <a:ext cx="1463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+19% 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Full calibration: 2 missing games (Dazzly, Royal Escape) — not in 2025 Sensor Tower export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23FFE8B1-84E2-394E-09E0-16049E573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69279" y="3684869"/>
            <a:ext cx="4938188" cy="1865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04 · PUBLISHER EXCLUSIONS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1C3A3F"/>
                </a:solidFill>
                <a:latin typeface="Calibri"/>
              </a:rPr>
              <a:t>Who we filter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438912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43891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3A3F"/>
                </a:solidFill>
                <a:latin typeface="Calibri"/>
              </a:rPr>
              <a:t>Hardcoded list  (80+ publishers)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200400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004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C3A3F"/>
                </a:solidFill>
                <a:latin typeface="Calibri"/>
              </a:rPr>
              <a:t>Major publishers we would never acquire</a:t>
            </a:r>
            <a:r>
              <a:rPr lang="en-US" sz="1300" b="0" i="0" dirty="0">
                <a:solidFill>
                  <a:srgbClr val="1C3A3F"/>
                </a:solidFill>
                <a:latin typeface="Calibri"/>
              </a:rPr>
              <a:t>:</a:t>
            </a:r>
            <a:r>
              <a:rPr sz="1300" b="0" i="0" dirty="0">
                <a:solidFill>
                  <a:srgbClr val="1C3A3F"/>
                </a:solidFill>
                <a:latin typeface="Calibri"/>
              </a:rPr>
              <a:t> EA, Supercell, King, Tencent, Zynga, </a:t>
            </a:r>
            <a:r>
              <a:rPr sz="1300" b="0" i="0" dirty="0" err="1">
                <a:solidFill>
                  <a:srgbClr val="1C3A3F"/>
                </a:solidFill>
                <a:latin typeface="Calibri"/>
              </a:rPr>
              <a:t>Kabam</a:t>
            </a:r>
            <a:r>
              <a:rPr sz="1300" b="0" i="0" dirty="0">
                <a:solidFill>
                  <a:srgbClr val="1C3A3F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1C3A3F"/>
                </a:solidFill>
                <a:latin typeface="Calibri"/>
              </a:rPr>
              <a:t>Playtika</a:t>
            </a:r>
            <a:r>
              <a:rPr sz="1300" b="0" i="0" dirty="0">
                <a:solidFill>
                  <a:srgbClr val="1C3A3F"/>
                </a:solidFill>
                <a:latin typeface="Calibri"/>
              </a:rPr>
              <a:t>, and 70+ more. </a:t>
            </a:r>
            <a:endParaRPr lang="en-US" sz="1300" b="0" i="0" dirty="0">
              <a:solidFill>
                <a:srgbClr val="1C3A3F"/>
              </a:solidFill>
              <a:latin typeface="Calibri"/>
            </a:endParaRPr>
          </a:p>
          <a:p>
            <a:pPr algn="l"/>
            <a:endParaRPr lang="en-US" sz="1300" dirty="0">
              <a:solidFill>
                <a:srgbClr val="1C3A3F"/>
              </a:solidFill>
              <a:latin typeface="Calibri"/>
            </a:endParaRPr>
          </a:p>
          <a:p>
            <a:pPr algn="l"/>
            <a:r>
              <a:rPr sz="1300" b="0" i="0" dirty="0">
                <a:solidFill>
                  <a:srgbClr val="1C3A3F"/>
                </a:solidFill>
                <a:latin typeface="Calibri"/>
              </a:rPr>
              <a:t>Manually curated and updated as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463040"/>
            <a:ext cx="3566160" cy="438912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24528" y="1463040"/>
            <a:ext cx="54864" cy="43891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408" y="16276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3A3F"/>
                </a:solidFill>
                <a:latin typeface="Calibri"/>
              </a:rPr>
              <a:t>Auto-exclude rule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2240280"/>
            <a:ext cx="3200400" cy="3657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2377440"/>
            <a:ext cx="3200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i="0" dirty="0">
                <a:solidFill>
                  <a:srgbClr val="1C3A3F"/>
                </a:solidFill>
                <a:latin typeface="Calibri"/>
              </a:rPr>
              <a:t>Games already on our lists or Salesforce (TBD), which didn’t have a significant change</a:t>
            </a:r>
            <a:endParaRPr sz="1300" b="0" i="0" dirty="0">
              <a:solidFill>
                <a:srgbClr val="1C3A3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91856" y="1463040"/>
            <a:ext cx="3566160" cy="438912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1463040"/>
            <a:ext cx="54864" cy="4389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74736" y="16276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3A3F"/>
                </a:solidFill>
                <a:latin typeface="Calibri"/>
              </a:rPr>
              <a:t>Calibration anchors  (30 games)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2240280"/>
            <a:ext cx="32004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74736" y="2377440"/>
            <a:ext cx="32004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C3A3F"/>
                </a:solidFill>
                <a:latin typeface="Calibri"/>
              </a:rPr>
              <a:t>Known benchmark games used to validate our profit model. Excluded from output so they </a:t>
            </a:r>
            <a:r>
              <a:rPr lang="en-US" sz="1300" dirty="0">
                <a:solidFill>
                  <a:srgbClr val="1C3A3F"/>
                </a:solidFill>
                <a:latin typeface="Calibri"/>
              </a:rPr>
              <a:t>won’t</a:t>
            </a:r>
            <a:r>
              <a:rPr sz="1300" b="0" i="0" dirty="0">
                <a:solidFill>
                  <a:srgbClr val="1C3A3F"/>
                </a:solidFill>
                <a:latin typeface="Calibri"/>
              </a:rPr>
              <a:t> appear as new acquisition targets</a:t>
            </a:r>
            <a:r>
              <a:rPr lang="en-US" sz="1300" dirty="0">
                <a:solidFill>
                  <a:srgbClr val="1C3A3F"/>
                </a:solidFill>
                <a:latin typeface="Calibri"/>
              </a:rPr>
              <a:t> UNLES a dramatic change in profit</a:t>
            </a:r>
            <a:endParaRPr lang="en-US" sz="1300" b="0" i="0" dirty="0">
              <a:solidFill>
                <a:srgbClr val="1C3A3F"/>
              </a:solidFill>
              <a:latin typeface="Calibri"/>
            </a:endParaRPr>
          </a:p>
          <a:p>
            <a:pPr algn="l"/>
            <a:endParaRPr sz="1300" b="0" i="0" dirty="0">
              <a:solidFill>
                <a:srgbClr val="1C3A3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Result: output contains only independent, acquirable studios in the relevant profit range.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05 · DASHBOARD TABS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Growing · Stable · Declining · Returning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51760" cy="46634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📈 Growing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&gt; +10% revenue trend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59152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Games gaining momentum — highest priority for outreach.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977639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⚠️  May already exist in Salesforce.
Cross-check before contacting.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63040"/>
            <a:ext cx="2651760" cy="46634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1463040"/>
            <a:ext cx="2651760" cy="4114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➡️  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7A7"/>
                </a:solidFill>
                <a:latin typeface="Calibri"/>
              </a:rPr>
              <a:t>-10% to +10% revenue trend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2359152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2468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Consistent performers. Verified NOT in Salesforce — cleanest leads list.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977639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40690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✅  Safe to act on immediately.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463040"/>
            <a:ext cx="2651760" cy="46634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1463040"/>
            <a:ext cx="265176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📉 Declining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Calibri"/>
              </a:rPr>
              <a:t>&lt; -10% revenue trend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359152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468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Revenue falling. Could be a motivated seller — or a trap. Verify before pursuing.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77639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40690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⚠️  May already exist in Salesforce.
Cross-check before contacting.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463040"/>
            <a:ext cx="2651760" cy="466344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61120" y="1463040"/>
            <a:ext cx="2651760" cy="4114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9828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🔄 Returning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5C00"/>
                </a:solidFill>
                <a:latin typeface="Calibri"/>
              </a:rPr>
              <a:t>Cross-platform or prior-run signal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2359152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246888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3F"/>
                </a:solidFill>
                <a:latin typeface="Calibri"/>
              </a:rPr>
              <a:t>Games found on both Google Play AND App Store, or reappeared from a prior run.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3977639"/>
            <a:ext cx="2377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98280" y="40690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Strongest signal: performing across platforms.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63276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3A3F"/>
                </a:solidFill>
                <a:latin typeface="Calibri"/>
              </a:rPr>
              <a:t>Current run:   62 Growing   ·   66 Stable   ·   38 Declining   ·   97 Returning   =   263 total leads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06 · AUTOMATION  —  COMING SOON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Execute &amp; Upload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475488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4754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201168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A3F"/>
                </a:solidFill>
                <a:latin typeface="Calibri"/>
              </a:rPr>
              <a:t>⚡  EXECUTE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Sensor Tower API — in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3A3F"/>
                </a:solidFill>
                <a:latin typeface="Calibri"/>
              </a:rPr>
              <a:t>One-click full refresh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07208"/>
            <a:ext cx="484632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Connect to Sensor Tower API directly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Pull latest 90-day data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Re-run analysis and rebuild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No CSV exports, no manual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Schedule: runs every 1st of the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5394960" cy="475488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54864" cy="475488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6520" y="1645920"/>
            <a:ext cx="2011680" cy="5029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691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3A3F"/>
                </a:solidFill>
                <a:latin typeface="Calibri"/>
              </a:rPr>
              <a:t>⬆  UPLOAD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C8"/>
                </a:solidFill>
                <a:latin typeface="Calibri"/>
              </a:rPr>
              <a:t>Live today via local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31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3A3F"/>
                </a:solidFill>
                <a:latin typeface="Calibri"/>
              </a:rPr>
              <a:t>Manual CSV upload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807208"/>
            <a:ext cx="484632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Upload one or multiple CSV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Drag &amp; drop or file picker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Supports Google Play + App Store together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Cross-platform dedup runs automatically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754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Dashboard reloads when complete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7A7"/>
                </a:solidFill>
                <a:latin typeface="Calibri"/>
              </a:rPr>
              <a:t>07 · SALESFORCE INTEGRATION  —  COMING SOON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C3A3F"/>
                </a:solidFill>
                <a:latin typeface="Calibri"/>
              </a:rPr>
              <a:t>Turning leads into a deal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493776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49377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C00"/>
                </a:solidFill>
                <a:latin typeface="Calibri"/>
              </a:rPr>
              <a:t>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29968"/>
            <a:ext cx="466344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Stable tab = verified not in Salesforce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Growing / Declining / Returning may overlap with existing CRM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4787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3A3F"/>
                </a:solidFill>
                <a:latin typeface="Calibri"/>
              </a:rPr>
              <a:t>–  Manual cross-check required before outreach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937760"/>
            <a:ext cx="4937760" cy="1234440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3A3F"/>
                </a:solidFill>
                <a:latin typeface="Calibri"/>
              </a:rPr>
              <a:t>💡  Once Salesforce is connected, all tabs will automatically show CRM deal status — no more manual cross-checking.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63040"/>
            <a:ext cx="5669280" cy="4937760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54864" cy="493776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7A7"/>
                </a:solidFill>
                <a:latin typeface="Calibri"/>
              </a:rPr>
              <a:t>Coming soon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29968"/>
            <a:ext cx="5212080" cy="27432"/>
          </a:xfrm>
          <a:prstGeom prst="rect">
            <a:avLst/>
          </a:prstGeom>
          <a:solidFill>
            <a:srgbClr val="B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1762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3F"/>
                </a:solidFill>
                <a:latin typeface="Calibri"/>
              </a:rPr>
              <a:t>Real-time dedup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60320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Every game checked against Salesforce on each run —</a:t>
            </a: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>&gt; </a:t>
            </a:r>
            <a:r>
              <a:rPr sz="1200" b="0" i="0" dirty="0">
                <a:solidFill>
                  <a:srgbClr val="64748B"/>
                </a:solidFill>
                <a:latin typeface="Calibri"/>
              </a:rPr>
              <a:t>no duplicates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266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C3A3F"/>
                </a:solidFill>
                <a:latin typeface="Calibri"/>
              </a:rPr>
              <a:t>Auto-push leads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107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New games pushed to Salesforce as Opportunities with pre-filled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C3A3F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97A7"/>
                </a:solidFill>
                <a:latin typeface="Calibri"/>
              </a:rPr>
              <a:t>A fully automated, calibrated, and presentation-ready acquisition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9144000" cy="36576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256032" cy="25603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2374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A3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1C3A3F"/>
                </a:solidFill>
                <a:latin typeface="Calibri"/>
              </a:rPr>
              <a:t>Profit model calibrated against 30</a:t>
            </a:r>
            <a:r>
              <a:rPr lang="en-US" sz="1500" b="0" i="0" dirty="0">
                <a:solidFill>
                  <a:srgbClr val="1C3A3F"/>
                </a:solidFill>
                <a:latin typeface="Calibri"/>
              </a:rPr>
              <a:t>+</a:t>
            </a:r>
            <a:r>
              <a:rPr sz="1500" b="0" i="0" dirty="0">
                <a:solidFill>
                  <a:srgbClr val="1C3A3F"/>
                </a:solidFill>
                <a:latin typeface="Calibri"/>
              </a:rPr>
              <a:t> real games with 2025 actuals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27248"/>
            <a:ext cx="256032" cy="25603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A3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358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3A3F"/>
                </a:solidFill>
                <a:latin typeface="Calibri"/>
              </a:rPr>
              <a:t>80+ publisher exclusions + auto-exclusion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94176"/>
            <a:ext cx="256032" cy="25603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A3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0273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3A3F"/>
                </a:solidFill>
                <a:latin typeface="Calibri"/>
              </a:rPr>
              <a:t>4-tab dashboard: Growing / Stable / Declining / Returning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61104"/>
            <a:ext cx="256032" cy="25603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22452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A3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696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3A3F"/>
                </a:solidFill>
                <a:latin typeface="Calibri"/>
              </a:rPr>
              <a:t>Cross-platform dedup: Google Play + App Store in one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28031"/>
            <a:ext cx="256032" cy="25603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91455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A3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365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3A3F"/>
                </a:solidFill>
                <a:latin typeface="Calibri"/>
              </a:rPr>
              <a:t>Date tracking, notes, review progress — all persisted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256032" cy="256032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35838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A3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303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3A3F"/>
                </a:solidFill>
                <a:latin typeface="Calibri"/>
              </a:rPr>
              <a:t>Upload button live today  ·  Execute + Salesforce coming 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876</Words>
  <Application>Microsoft Office PowerPoint</Application>
  <PresentationFormat>Custom</PresentationFormat>
  <Paragraphs>145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Rotem Eldor</cp:lastModifiedBy>
  <cp:revision>3</cp:revision>
  <dcterms:created xsi:type="dcterms:W3CDTF">2013-01-27T09:14:16Z</dcterms:created>
  <dcterms:modified xsi:type="dcterms:W3CDTF">2026-06-09T19:14:13Z</dcterms:modified>
  <cp:category/>
</cp:coreProperties>
</file>